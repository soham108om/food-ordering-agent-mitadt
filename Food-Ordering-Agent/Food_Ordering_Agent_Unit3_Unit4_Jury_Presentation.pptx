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m Satkur" userId="60e6deadccfeef82" providerId="LiveId" clId="{203B2FDC-E3B7-42C2-A2A3-3C4B2434FD33}"/>
    <pc:docChg chg="custSel modSld">
      <pc:chgData name="Soham Satkur" userId="60e6deadccfeef82" providerId="LiveId" clId="{203B2FDC-E3B7-42C2-A2A3-3C4B2434FD33}" dt="2026-10-25T05:58:50.685" v="15" actId="20577"/>
      <pc:docMkLst>
        <pc:docMk/>
      </pc:docMkLst>
      <pc:sldChg chg="delSp modSp mod">
        <pc:chgData name="Soham Satkur" userId="60e6deadccfeef82" providerId="LiveId" clId="{203B2FDC-E3B7-42C2-A2A3-3C4B2434FD33}" dt="2026-10-25T05:57:54.771" v="6" actId="478"/>
        <pc:sldMkLst>
          <pc:docMk/>
          <pc:sldMk cId="0" sldId="256"/>
        </pc:sldMkLst>
        <pc:spChg chg="mod">
          <ac:chgData name="Soham Satkur" userId="60e6deadccfeef82" providerId="LiveId" clId="{203B2FDC-E3B7-42C2-A2A3-3C4B2434FD33}" dt="2026-10-25T05:57:49.494" v="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oham Satkur" userId="60e6deadccfeef82" providerId="LiveId" clId="{203B2FDC-E3B7-42C2-A2A3-3C4B2434FD33}" dt="2026-10-25T05:57:54.771" v="6" actId="478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Soham Satkur" userId="60e6deadccfeef82" providerId="LiveId" clId="{203B2FDC-E3B7-42C2-A2A3-3C4B2434FD33}" dt="2026-10-25T05:57:39.234" v="2" actId="14100"/>
          <ac:picMkLst>
            <pc:docMk/>
            <pc:sldMk cId="0" sldId="256"/>
            <ac:picMk id="14" creationId="{00000000-0000-0000-0000-000000000000}"/>
          </ac:picMkLst>
        </pc:picChg>
      </pc:sldChg>
      <pc:sldChg chg="modSp mod">
        <pc:chgData name="Soham Satkur" userId="60e6deadccfeef82" providerId="LiveId" clId="{203B2FDC-E3B7-42C2-A2A3-3C4B2434FD33}" dt="2026-10-25T05:58:11.135" v="8" actId="14100"/>
        <pc:sldMkLst>
          <pc:docMk/>
          <pc:sldMk cId="0" sldId="257"/>
        </pc:sldMkLst>
        <pc:picChg chg="mod">
          <ac:chgData name="Soham Satkur" userId="60e6deadccfeef82" providerId="LiveId" clId="{203B2FDC-E3B7-42C2-A2A3-3C4B2434FD33}" dt="2026-10-25T05:58:11.135" v="8" actId="14100"/>
          <ac:picMkLst>
            <pc:docMk/>
            <pc:sldMk cId="0" sldId="257"/>
            <ac:picMk id="18" creationId="{00000000-0000-0000-0000-000000000000}"/>
          </ac:picMkLst>
        </pc:picChg>
      </pc:sldChg>
      <pc:sldChg chg="modSp mod">
        <pc:chgData name="Soham Satkur" userId="60e6deadccfeef82" providerId="LiveId" clId="{203B2FDC-E3B7-42C2-A2A3-3C4B2434FD33}" dt="2026-10-25T05:58:29.835" v="10" actId="14100"/>
        <pc:sldMkLst>
          <pc:docMk/>
          <pc:sldMk cId="0" sldId="259"/>
        </pc:sldMkLst>
        <pc:picChg chg="mod">
          <ac:chgData name="Soham Satkur" userId="60e6deadccfeef82" providerId="LiveId" clId="{203B2FDC-E3B7-42C2-A2A3-3C4B2434FD33}" dt="2026-10-25T05:58:29.835" v="10" actId="14100"/>
          <ac:picMkLst>
            <pc:docMk/>
            <pc:sldMk cId="0" sldId="259"/>
            <ac:picMk id="8" creationId="{00000000-0000-0000-0000-000000000000}"/>
          </ac:picMkLst>
        </pc:picChg>
      </pc:sldChg>
      <pc:sldChg chg="modSp mod">
        <pc:chgData name="Soham Satkur" userId="60e6deadccfeef82" providerId="LiveId" clId="{203B2FDC-E3B7-42C2-A2A3-3C4B2434FD33}" dt="2026-10-25T05:58:50.685" v="15" actId="20577"/>
        <pc:sldMkLst>
          <pc:docMk/>
          <pc:sldMk cId="0" sldId="260"/>
        </pc:sldMkLst>
        <pc:spChg chg="mod">
          <ac:chgData name="Soham Satkur" userId="60e6deadccfeef82" providerId="LiveId" clId="{203B2FDC-E3B7-42C2-A2A3-3C4B2434FD33}" dt="2026-10-25T05:58:50.685" v="15" actId="20577"/>
          <ac:spMkLst>
            <pc:docMk/>
            <pc:sldMk cId="0" sldId="260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MIT ADT UNIVERSITY  |  MINI PROJECT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292321"/>
                </a:solidFill>
                <a:latin typeface="Aptos"/>
              </a:rPr>
              <a:t>FOOD ORDERING
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5166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16A63"/>
                </a:solidFill>
                <a:latin typeface="Aptos"/>
              </a:rPr>
              <a:t>Conversational ordering, guided by your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95728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542032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ORIGINAL PROJECT  ?  SCOPE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16352"/>
            <a:ext cx="489204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92321"/>
                </a:solidFill>
                <a:latin typeface="Aptos"/>
              </a:rPr>
              <a:t>Help users turn a natural-language food request into a suitable ordering workflow, while honoring constraints and requiring approval before order 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657600"/>
            <a:ext cx="52120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16A63"/>
                </a:solidFill>
                <a:latin typeface="Aptos"/>
              </a:rPr>
              <a:t>Objective: connect request understanding, real restaurant/menu data, and safe, user-controlled ordering.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315968"/>
            <a:ext cx="530352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462272"/>
            <a:ext cx="47548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PROJECT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754880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92321"/>
                </a:solidFill>
                <a:latin typeface="Aptos"/>
              </a:rPr>
              <a:t>Soham Satkur    Roll No. 48
Tushar Bhite  ? Roll No. 52
Tanishka Uttarkar  ? Roll No. 51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685800"/>
            <a:ext cx="5440680" cy="5449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143000"/>
            <a:ext cx="4956048" cy="30815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82512" y="422452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16A63"/>
                </a:solidFill>
                <a:latin typeface="Aptos"/>
              </a:rPr>
              <a:t>The existing app and ordering workflow remain the project foundation.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4736592"/>
            <a:ext cx="1938528" cy="274320"/>
          </a:xfrm>
          <a:prstGeom prst="roundRect">
            <a:avLst/>
          </a:prstGeom>
          <a:solidFill>
            <a:srgbClr val="FC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4786883"/>
            <a:ext cx="17922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D94E1F"/>
                </a:solidFill>
                <a:latin typeface="Aptos"/>
              </a:rPr>
              <a:t>UNIT 3 ? MEMORY +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85632" y="4736592"/>
            <a:ext cx="1993392" cy="274320"/>
          </a:xfrm>
          <a:prstGeom prst="roundRect">
            <a:avLst/>
          </a:prstGeom>
          <a:solidFill>
            <a:srgbClr val="E7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8784" y="4786883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715B"/>
                </a:solidFill>
                <a:latin typeface="Aptos"/>
              </a:rPr>
              <a:t>UNIT 4 ? AGENT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5193792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92321"/>
                </a:solidFill>
                <a:latin typeface="Aptos"/>
              </a:rPr>
              <a:t>Two course concepts are demonstrated through capabilities already integrated with the original project.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60196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16A63"/>
                </a:solidFill>
                <a:latin typeface="Aptos"/>
              </a:rPr>
              <a:t>Food Ordering Agent  ?  Unit 3 and Unit 4 demonstrations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EXTENSION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92321"/>
                </a:solidFill>
                <a:latin typeface="Aptos"/>
              </a:rPr>
              <a:t>Unit 3  |  Memory storage + API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070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16A63"/>
                </a:solidFill>
                <a:latin typeface="Aptos"/>
              </a:rPr>
              <a:t>A persistent session plus live service integration makes the ordering workflow stateful and data-driven.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716A63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9672"/>
            <a:ext cx="11045952" cy="22860"/>
          </a:xfrm>
          <a:prstGeom prst="rect">
            <a:avLst/>
          </a:prstGeom>
          <a:solidFill>
            <a:srgbClr val="E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21208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1298448" cy="274320"/>
          </a:xfrm>
          <a:prstGeom prst="roundRect">
            <a:avLst/>
          </a:prstGeom>
          <a:solidFill>
            <a:srgbClr val="FC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69363"/>
            <a:ext cx="11521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D94E1F"/>
                </a:solidFill>
                <a:latin typeface="Aptos"/>
              </a:rPr>
              <a:t>SESSION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84831"/>
            <a:ext cx="47365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92321"/>
                </a:solidFill>
                <a:latin typeface="Aptos"/>
              </a:rPr>
              <a:t>SQLite saves the session ID, current agent state, workflow step, event log, and encrypted Swiggy token. Paused work can resume from saved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6120"/>
            <a:ext cx="521208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3410712"/>
            <a:ext cx="1316736" cy="274320"/>
          </a:xfrm>
          <a:prstGeom prst="round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46100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26C82"/>
                </a:solidFill>
                <a:latin typeface="Aptos"/>
              </a:rPr>
              <a:t>API / MCP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76472"/>
            <a:ext cx="473659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92321"/>
                </a:solidFill>
                <a:latin typeface="Aptos"/>
              </a:rPr>
              <a:t>The backend invokes Swiggy Food MCP tools for real address, restaurant, menu, cart, and order operations after account authorization.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10912"/>
            <a:ext cx="4709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DEMO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321808"/>
            <a:ext cx="475488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92321"/>
                </a:solidFill>
                <a:latin typeface="Aptos"/>
              </a:rPr>
              <a:t>User request ? API request ? MCP response ? structured AgentState ? SQLite 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1554480"/>
            <a:ext cx="5559552" cy="3447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380" y="1764792"/>
            <a:ext cx="5165166" cy="30723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36208" y="5157216"/>
            <a:ext cx="5166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16A63"/>
                </a:solidFill>
                <a:latin typeface="Aptos"/>
              </a:rPr>
              <a:t>Screenshot: real application request screen; live service calls require Swiggy OAuth.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5522976"/>
            <a:ext cx="5559552" cy="566928"/>
          </a:xfrm>
          <a:prstGeom prst="roundRect">
            <a:avLst/>
          </a:prstGeom>
          <a:solidFill>
            <a:srgbClr val="FC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8" y="5660136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92321"/>
                </a:solidFill>
                <a:latin typeface="Aptos"/>
              </a:rPr>
              <a:t>Example input: ?Vegetarian pizza under ?500, within 30 minutes.?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EXTENSION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92321"/>
                </a:solidFill>
                <a:latin typeface="Aptos"/>
              </a:rPr>
              <a:t>Unit 4  |  Multi-agent system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070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16A63"/>
                </a:solidFill>
                <a:latin typeface="Aptos"/>
              </a:rPr>
              <a:t>Implemented as a LangGraph-orchestrated workflow of specialist nodes sharing one typed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716A63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9672"/>
            <a:ext cx="11045952" cy="22860"/>
          </a:xfrm>
          <a:prstGeom prst="rect">
            <a:avLst/>
          </a:prstGeom>
          <a:solidFill>
            <a:srgbClr val="E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527048"/>
            <a:ext cx="11045952" cy="603504"/>
          </a:xfrm>
          <a:prstGeom prst="roundRect">
            <a:avLst/>
          </a:prstGeom>
          <a:solidFill>
            <a:srgbClr val="E7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105613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58715B"/>
                </a:solidFill>
                <a:latin typeface="Aptos"/>
              </a:rPr>
              <a:t>Shared AgentState carries requirements, selected items, cart, current step, and user-decision 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1417320" cy="932688"/>
          </a:xfrm>
          <a:prstGeom prst="roundRect">
            <a:avLst/>
          </a:prstGeom>
          <a:solidFill>
            <a:srgbClr val="FCE9DC"/>
          </a:solidFill>
          <a:ln w="12700">
            <a:solidFill>
              <a:srgbClr val="D94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2633472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D94E1F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90779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716A63"/>
                </a:solidFill>
                <a:latin typeface="Aptos"/>
              </a:rPr>
              <a:t>Parse 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21408" y="2953512"/>
            <a:ext cx="329183" cy="0"/>
          </a:xfrm>
          <a:prstGeom prst="line">
            <a:avLst/>
          </a:prstGeom>
          <a:ln w="22860">
            <a:solidFill>
              <a:srgbClr val="D94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23744" y="2487168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96896" y="2633472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321"/>
                </a:solidFill>
                <a:latin typeface="Aptos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0779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716A63"/>
                </a:solidFill>
                <a:latin typeface="Aptos"/>
              </a:rPr>
              <a:t>Build 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86783" y="2953512"/>
            <a:ext cx="329185" cy="0"/>
          </a:xfrm>
          <a:prstGeom prst="line">
            <a:avLst/>
          </a:prstGeom>
          <a:ln w="22860">
            <a:solidFill>
              <a:srgbClr val="D94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2487168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633472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321"/>
                </a:solidFill>
                <a:latin typeface="Aptos"/>
              </a:rPr>
              <a:t>RESTAURANT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90779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716A63"/>
                </a:solidFill>
                <a:latin typeface="Aptos"/>
              </a:rPr>
              <a:t>Search ? filter
? rank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2159" y="2953512"/>
            <a:ext cx="329185" cy="0"/>
          </a:xfrm>
          <a:prstGeom prst="line">
            <a:avLst/>
          </a:prstGeom>
          <a:ln w="22860">
            <a:solidFill>
              <a:srgbClr val="D94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54496" y="2487168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633472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321"/>
                </a:solidFill>
                <a:latin typeface="Aptos"/>
              </a:rPr>
              <a:t>MENU + CART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90779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716A63"/>
                </a:solidFill>
                <a:latin typeface="Aptos"/>
              </a:rPr>
              <a:t>Select ? customize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7536" y="2953512"/>
            <a:ext cx="329184" cy="0"/>
          </a:xfrm>
          <a:prstGeom prst="line">
            <a:avLst/>
          </a:prstGeom>
          <a:ln w="22860">
            <a:solidFill>
              <a:srgbClr val="D94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19872" y="2487168"/>
            <a:ext cx="1417320" cy="932688"/>
          </a:xfrm>
          <a:prstGeom prst="roundRect">
            <a:avLst/>
          </a:prstGeom>
          <a:solidFill>
            <a:srgbClr val="FCE9DC"/>
          </a:solidFill>
          <a:ln w="12700">
            <a:solidFill>
              <a:srgbClr val="D94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93024" y="2633472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D94E1F"/>
                </a:solidFill>
                <a:latin typeface="Aptos"/>
              </a:rP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90779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716A63"/>
                </a:solidFill>
                <a:latin typeface="Aptos"/>
              </a:rPr>
              <a:t>Pause for user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82912" y="2953512"/>
            <a:ext cx="329184" cy="0"/>
          </a:xfrm>
          <a:prstGeom prst="line">
            <a:avLst/>
          </a:prstGeom>
          <a:ln w="22860">
            <a:solidFill>
              <a:srgbClr val="D94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85248" y="2487168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2633472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321"/>
                </a:solidFill>
                <a:latin typeface="Aptos"/>
              </a:rPr>
              <a:t>ORDER /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907792"/>
            <a:ext cx="1271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716A63"/>
                </a:solidFill>
                <a:latin typeface="Aptos"/>
              </a:rPr>
              <a:t>Confirm ?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16A63"/>
                </a:solidFill>
                <a:latin typeface="Aptos"/>
              </a:rPr>
              <a:t>Conditional routes support re-planning and wait states.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995928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D94E1F"/>
                </a:solidFill>
                <a:latin typeface="Aptos"/>
              </a:rPr>
              <a:t>LIVE FRONT-END VIEW  ?  THE ACTIVITY JOURNEY EXPOSES WORKFLOW PROGRESS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15968"/>
            <a:ext cx="10835640" cy="98755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85800" y="5504688"/>
            <a:ext cx="1083564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650992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92321"/>
                </a:solidFill>
                <a:latin typeface="Aptos"/>
              </a:rPr>
              <a:t>Accuracy note: these are centrally coordinated specialist nodes?not independent autonomous agents negotiating with one another.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INTEGRATED DEMO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92321"/>
                </a:solidFill>
                <a:latin typeface="Aptos"/>
              </a:rPr>
              <a:t>One request  |  Persistent, visible, user-controlled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070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16A63"/>
                </a:solidFill>
                <a:latin typeface="Aptos"/>
              </a:rPr>
              <a:t>The original ordering scope connects the Unit 3 and Unit 4 concepts in a single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716A63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9672"/>
            <a:ext cx="11045952" cy="22860"/>
          </a:xfrm>
          <a:prstGeom prst="rect">
            <a:avLst/>
          </a:prstGeom>
          <a:solidFill>
            <a:srgbClr val="E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53212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96" y="1947672"/>
            <a:ext cx="4851068" cy="30266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5138928"/>
            <a:ext cx="501091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16A63"/>
                </a:solidFill>
                <a:latin typeface="Aptos"/>
              </a:rPr>
              <a:t>Screenshot: application home screen with the natural-language request and live workflow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36192"/>
            <a:ext cx="5257800" cy="960120"/>
          </a:xfrm>
          <a:prstGeom prst="roundRect">
            <a:avLst/>
          </a:prstGeom>
          <a:solidFill>
            <a:srgbClr val="FC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682496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SAMPLE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9476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92321"/>
                </a:solidFill>
                <a:latin typeface="Aptos"/>
              </a:rPr>
              <a:t>Vegetarian pizza ? budget ?500 ? delivery ? 30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24912"/>
            <a:ext cx="5257800" cy="1417320"/>
          </a:xfrm>
          <a:prstGeom prst="roundRect">
            <a:avLst/>
          </a:prstGeom>
          <a:solidFill>
            <a:srgbClr val="E7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880360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715B"/>
                </a:solidFill>
                <a:latin typeface="Aptos"/>
              </a:rPr>
              <a:t>WORKFLOW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163824"/>
            <a:ext cx="4800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92321"/>
                </a:solidFill>
                <a:latin typeface="Aptos"/>
              </a:rPr>
              <a:t>Parsed requirements ? API-backed restaurant/menu options ? filtered and ranked choices ? saved session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370832"/>
            <a:ext cx="525780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4535424"/>
            <a:ext cx="4828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INTEGRATION +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4828032"/>
            <a:ext cx="4791456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92321"/>
                </a:solidFill>
                <a:latin typeface="Aptos"/>
              </a:rPr>
              <a:t>LangGraph routes work between specialists. The flow pauses for payment/user input; explicit confirmation is required before order placement.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6144768"/>
            <a:ext cx="11045952" cy="292608"/>
          </a:xfrm>
          <a:prstGeom prst="roundRect">
            <a:avLst/>
          </a:prstGeom>
          <a:solidFill>
            <a:srgbClr val="29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6208776"/>
            <a:ext cx="10698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Live restaurant/order results depend on successful Swiggy authorization and service availability.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94E1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92321"/>
                </a:solidFill>
                <a:latin typeface="Aptos"/>
              </a:rPr>
              <a:t>Original project retained  |  Two concepts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070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16A63"/>
                </a:solidFill>
                <a:latin typeface="Aptos"/>
              </a:rPr>
              <a:t>Unit 3 and Unit 4 capabilities are shown as extensions of the existing food-ordering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716A63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9672"/>
            <a:ext cx="11045952" cy="22860"/>
          </a:xfrm>
          <a:prstGeom prst="rect">
            <a:avLst/>
          </a:prstGeom>
          <a:solidFill>
            <a:srgbClr val="E5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673352"/>
            <a:ext cx="3538728" cy="1856231"/>
          </a:xfrm>
          <a:prstGeom prst="roundRect">
            <a:avLst/>
          </a:prstGeom>
          <a:solidFill>
            <a:srgbClr val="FC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74519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D94E1F"/>
                </a:solidFill>
                <a:latin typeface="Aptos"/>
              </a:rPr>
              <a:t>ORIGINAL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58568"/>
            <a:ext cx="310896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92321"/>
                </a:solidFill>
                <a:latin typeface="Aptos"/>
              </a:rPr>
              <a:t>Natural-language food ordering with real service integration, constraint handling, and a human confirmation boundary.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73352"/>
            <a:ext cx="3538728" cy="1856231"/>
          </a:xfrm>
          <a:prstGeom prst="round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26C82"/>
                </a:solidFill>
                <a:latin typeface="Aptos"/>
              </a:rPr>
              <a:t>UNIT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258568"/>
            <a:ext cx="310896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92321"/>
                </a:solidFill>
                <a:latin typeface="Aptos"/>
              </a:rPr>
              <a:t>SQLite provides persistent per-session memory; Swiggy MCP provides authorized API-backed data and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73352"/>
            <a:ext cx="3538728" cy="1856231"/>
          </a:xfrm>
          <a:prstGeom prst="roundRect">
            <a:avLst/>
          </a:prstGeom>
          <a:solidFill>
            <a:srgbClr val="E7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6" y="1874519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8715B"/>
                </a:solidFill>
                <a:latin typeface="Aptos"/>
              </a:rPr>
              <a:t>UNIT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258568"/>
            <a:ext cx="3108960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92321"/>
                </a:solidFill>
                <a:latin typeface="Aptos"/>
              </a:rPr>
              <a:t>LangGraph coordinates specialist workflow nodes over shared state with conditional paths and user checkpoints.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22191"/>
            <a:ext cx="6720840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4023360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D94E1F"/>
                </a:solidFill>
                <a:latin typeface="Aptos"/>
              </a:rPr>
              <a:t>FUTURE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398264"/>
            <a:ext cx="6126480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92321"/>
                </a:solidFill>
                <a:latin typeface="Aptos"/>
              </a:rPr>
              <a:t>Add durable cross-session preference memory with user consent; add automated tests for API failures and graph branches; explore independent agent collaboration only if the project scope is expanded.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3822191"/>
            <a:ext cx="4041648" cy="2139696"/>
          </a:xfrm>
          <a:prstGeom prst="roundRect">
            <a:avLst/>
          </a:prstGeom>
          <a:solidFill>
            <a:srgbClr val="29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40416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489704"/>
            <a:ext cx="3502152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F7F3EA"/>
                </a:solidFill>
                <a:latin typeface="Aptos"/>
              </a:rPr>
              <a:t>Soham </a:t>
            </a:r>
            <a:r>
              <a:rPr sz="1100" b="0">
                <a:solidFill>
                  <a:srgbClr val="F7F3EA"/>
                </a:solidFill>
                <a:latin typeface="Aptos"/>
              </a:rPr>
              <a:t>Satkur    </a:t>
            </a:r>
            <a:r>
              <a:rPr sz="1100" b="0" dirty="0">
                <a:solidFill>
                  <a:srgbClr val="F7F3EA"/>
                </a:solidFill>
                <a:latin typeface="Aptos"/>
              </a:rPr>
              <a:t>48
Tushar Bhite    52
Tanishka Uttarkar  51
MIT ADT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190488"/>
            <a:ext cx="10515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16A63"/>
                </a:solidFill>
                <a:latin typeface="Aptos"/>
              </a:rPr>
              <a:t>Course / Section: [Add course and section before submission]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627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Soham Satkur</cp:lastModifiedBy>
  <cp:revision>1</cp:revision>
  <dcterms:created xsi:type="dcterms:W3CDTF">2013-01-27T09:14:16Z</dcterms:created>
  <dcterms:modified xsi:type="dcterms:W3CDTF">2026-10-25T05:58:56Z</dcterms:modified>
  <cp:category/>
</cp:coreProperties>
</file>